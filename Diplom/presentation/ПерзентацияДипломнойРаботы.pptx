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_rels/presentation.xml.rels" ContentType="application/vnd.openxmlformats-package.relationships+xml"/>
  <Override PartName="/ppt/media/image12.png" ContentType="image/png"/>
  <Override PartName="/ppt/media/image9.png" ContentType="image/png"/>
  <Override PartName="/ppt/media/image13.png" ContentType="image/png"/>
  <Override PartName="/ppt/media/image8.png" ContentType="image/png"/>
  <Override PartName="/ppt/media/image11.png" ContentType="image/png"/>
  <Override PartName="/ppt/media/image7.jpeg" ContentType="image/jpeg"/>
  <Override PartName="/ppt/media/image18.png" ContentType="image/png"/>
  <Override PartName="/ppt/media/image20.png" ContentType="image/png"/>
  <Override PartName="/ppt/media/image21.jpeg" ContentType="image/jpeg"/>
  <Override PartName="/ppt/media/image16.png" ContentType="image/png"/>
  <Override PartName="/ppt/media/image19.png" ContentType="image/png"/>
  <Override PartName="/ppt/media/image1.png" ContentType="image/png"/>
  <Override PartName="/ppt/media/image17.png" ContentType="image/png"/>
  <Override PartName="/ppt/media/image15.png" ContentType="image/png"/>
  <Override PartName="/ppt/media/image14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slideLayouts/_rels/slideLayout9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87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9A35661-2D89-404A-A881-A0D0C1F03F5A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12D6F1E-9DA5-440B-9D6A-796942D74D70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6CAF6EB-DA1C-4A80-A3F2-4794BEB0E0AE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E6D1BAF-5FC2-4DC0-AFAF-54BBBAB99B57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959F6DD-6FA2-4596-B6A6-099EE81AA2B1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BEFA03A-B533-467E-8DF9-D22C24DFAADA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0A8A443-EE3C-4D95-A2AE-E1A61F578764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FA46C14-BB30-4368-921F-410BB424CC44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9742BDF-8D68-4710-BF05-DC19F56F3AA3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DB21635-8108-43D8-BE58-CEE62BB4E7DC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1390D0C-175E-40FF-8C03-DA368BD62FB9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306D016-CD86-4C0E-AE8B-E201E7535BCA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CE6C7AF-2073-4B76-914B-F26BB2184A4A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570F80C-7A27-4A46-9D74-8FADF7582E94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2D42DD2-2F67-49F5-A32C-AA60F09FF4F2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025F757-64FE-433F-BB1A-D0976DADB7F4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6115DED-E591-4AE0-910B-3C69D131F884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52FAB22-C7F4-49D9-92DB-E4E0E675326C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92C8223-538F-4A31-95D5-C6F2070D192A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A6CF1E8-CAC6-4D1A-B7B2-C1FB57C2F0F5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0540C9-5D1F-4BF9-8D18-54801CEF7E68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F9335CC-CF4D-49E5-9275-AF2BFADEB622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EC64A6-1574-40CA-8CED-10DA31B4830B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F41D6C-BE08-46AD-BE08-43BC97ECC0D6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4D796B-7A84-48D8-94BF-3EA635045518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6E7761-BB2F-4E27-93FF-F12FAB6A5167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4675E0-3025-41CD-B5A7-FD9B864B1126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60FC14-BE45-4B6E-9AB5-5F484C7F6AC1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8FE918-60E8-49F2-B00C-491FED4E578D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F01C25-CB62-47E7-8E12-390672EB338D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345450-D37D-4ADC-A236-9E6679DBF2D2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42122F-A200-4022-89B5-11B3F54EB2CC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AAC893-7B94-414A-A428-4E08A8A57AD8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66DE33-9672-423D-A3B1-FA0B30E6C5F6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9680A7-DAE0-42CE-84DE-337B3008298D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A67064-FB68-4EE4-A14A-884C3C950A21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E8B6590-EB0D-48C8-BF23-697A2D5E0032}" type="slidenum">
              <a:t>&lt;#&gt;</a:t>
            </a:fld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FB2AB44-AA11-48B2-9DF6-2285671C394A}" type="slidenum">
              <a:t>&lt;#&gt;</a:t>
            </a:fld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3D0D607-FF4A-4640-B09D-2F8B76631018}" type="slidenum">
              <a:t>&lt;#&gt;</a:t>
            </a:fld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C650BC0-3CC4-4987-9FEE-253CB04E2365}" type="slidenum">
              <a:t>&lt;#&gt;</a:t>
            </a:fld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4E5EC3F-CB4B-4115-B60A-A506C8A5BFDC}" type="slidenum">
              <a:t>&lt;#&gt;</a:t>
            </a:fld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0FFD688-852A-40C9-9B3D-24C7BD33421F}" type="slidenum">
              <a:t>&lt;#&gt;</a:t>
            </a:fld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7C19889-0A4D-4A14-936D-0FEC26421B43}" type="slidenum">
              <a:t>&lt;#&gt;</a:t>
            </a:fld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1A3C769-DDEE-4046-B845-BAE5E00C1BA5}" type="slidenum">
              <a:t>&lt;#&gt;</a:t>
            </a:fld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1904E75-A4FC-4EA3-AAC4-356430A6C53E}" type="slidenum">
              <a:t>&lt;#&gt;</a:t>
            </a:fld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0660F94-05B2-4F5D-A6AB-3147B1F9E9CB}" type="slidenum">
              <a:t>&lt;#&gt;</a:t>
            </a:fld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C973E59-A31A-45C8-8F4F-913060D25ABD}" type="slidenum">
              <a:t>&lt;#&gt;</a:t>
            </a:fld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DBEC1AD-27A1-48B9-9399-929B7FB1F922}" type="slidenum">
              <a:t>&lt;#&gt;</a:t>
            </a:fld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A6708A7-DA35-4861-AA12-657EAAA2A1E0}" type="slidenum">
              <a:t>&lt;#&gt;</a:t>
            </a:fld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53CF9F3-813A-4B73-97B4-0AC19596B2EB}" type="slidenum">
              <a:t>&lt;#&gt;</a:t>
            </a:fld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68FDFAE-497A-4721-93D5-B2582D0CFD1A}" type="slidenum">
              <a:t>&lt;#&gt;</a:t>
            </a:fld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E9FA8DC-3EF8-4241-8A80-B56C24EA2641}" type="slidenum">
              <a:t>&lt;#&gt;</a:t>
            </a:fld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9A392A8-0C9D-44EB-9072-BEA8AAF4E863}" type="slidenum">
              <a:t>&lt;#&gt;</a:t>
            </a:fld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3DEF74A-413B-4381-9054-6DE8D7B836F6}" type="slidenum">
              <a:t>&lt;#&gt;</a:t>
            </a:fld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E83B1BE-77BD-4B5C-9192-4395E7F0DB6F}" type="slidenum">
              <a:t>&lt;#&gt;</a:t>
            </a:fld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07C8255-8910-48C5-9926-B740802DEF62}" type="slidenum">
              <a:t>&lt;#&gt;</a:t>
            </a:fld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FEA0785-EDDB-4FF0-B680-19AC0AF649A4}" type="slidenum">
              <a:t>&lt;#&gt;</a:t>
            </a:fld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B146CDE-39E5-419D-BE26-0C00365D341E}" type="slidenum">
              <a:t>&lt;#&gt;</a:t>
            </a:fld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16AECAE-0B50-46DE-9367-1D381B240BAC}" type="slidenum">
              <a:t>&lt;#&gt;</a:t>
            </a:fld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903F0BB-9BCF-4AD2-AED0-720C0432F84F}" type="slidenum">
              <a:t>&lt;#&gt;</a:t>
            </a:fld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755787-5646-4EFD-A549-BEA080746FEC}" type="slidenum">
              <a:t>&lt;#&gt;</a:t>
            </a:fld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CBE978-A12D-453C-BA1F-5396CB57BBE9}" type="slidenum">
              <a:t>&lt;#&gt;</a:t>
            </a:fld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813E0F-24F3-4655-9DBF-183F62CABF9C}" type="slidenum">
              <a:t>&lt;#&gt;</a:t>
            </a:fld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0D986D-F5B6-4DA7-933A-5FCCB35DC3C1}" type="slidenum">
              <a:t>&lt;#&gt;</a:t>
            </a:fld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3FC6EF-2328-40D6-835A-B76D6140A41F}" type="slidenum">
              <a:t>&lt;#&gt;</a:t>
            </a:fld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8BE573-19B5-4EF1-A37B-F4725740D2D4}" type="slidenum">
              <a:t>&lt;#&gt;</a:t>
            </a:fld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C7CF07-A3D0-4FEE-8CEF-6251330FFE93}" type="slidenum">
              <a:t>&lt;#&gt;</a:t>
            </a:fld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238466-D19C-4CDD-ABD3-A4BFE00AC5F5}" type="slidenum">
              <a:t>&lt;#&gt;</a:t>
            </a:fld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00630D-83FF-4879-9EC1-93D3756E9932}" type="slidenum">
              <a:t>&lt;#&gt;</a:t>
            </a:fld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8308CE-B034-452B-B356-8D4C0076C93E}" type="slidenum">
              <a:t>&lt;#&gt;</a:t>
            </a:fld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75BC01-3C66-43E2-9908-95530707F1DA}" type="slidenum">
              <a:t>&lt;#&gt;</a:t>
            </a:fld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C4F52F-43E9-4F9B-8EA5-85DC5CBB53E5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9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5.xml"/><Relationship Id="rId4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7.xml"/><Relationship Id="rId6" Type="http://schemas.openxmlformats.org/officeDocument/2006/relationships/slideLayout" Target="../slideLayouts/slideLayout88.xml"/><Relationship Id="rId7" Type="http://schemas.openxmlformats.org/officeDocument/2006/relationships/slideLayout" Target="../slideLayouts/slideLayout89.xml"/><Relationship Id="rId8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4.xml"/><Relationship Id="rId13" Type="http://schemas.openxmlformats.org/officeDocument/2006/relationships/slideLayout" Target="../slideLayouts/slideLayout95.xml"/><Relationship Id="rId14" Type="http://schemas.openxmlformats.org/officeDocument/2006/relationships/slideLayout" Target="../slideLayouts/slideLayout9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6CA69A-6C5B-4ECF-AC12-72F4B6A4F1AB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я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пр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авк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и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тек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ста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заг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ла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ви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я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щё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лк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нит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е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мы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шь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0C21D6-8AF5-416F-9015-E6DE262C3284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888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marL="354240" indent="-26568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708480" indent="-26568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062720" indent="-23616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416960" indent="-17712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1771200" indent="-17712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125440" indent="-17712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2479680" indent="-17712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marL="354240" indent="-26568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708480" indent="-26568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062720" indent="-23616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416960" indent="-17712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1771200" indent="-17712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125440" indent="-17712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2479680" indent="-17712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0A0A4F7-B2AB-4281-BA3F-D50F9477DA61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635D8F-27E9-4B6D-B32B-E88998626233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AF92294-D2C9-4572-9E9E-9DF35E3A3F9F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5AAA6C3-5BC7-4D2C-AD3A-830D0AF77D2C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6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6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6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6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6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slideLayout" Target="../slideLayouts/slideLayout3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7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8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146;p35" descr=""/>
          <p:cNvPicPr/>
          <p:nvPr/>
        </p:nvPicPr>
        <p:blipFill>
          <a:blip r:embed="rId1"/>
          <a:srcRect l="18591" t="0" r="18584" b="0"/>
          <a:stretch/>
        </p:blipFill>
        <p:spPr>
          <a:xfrm>
            <a:off x="-75960" y="-3216960"/>
            <a:ext cx="9407520" cy="8359560"/>
          </a:xfrm>
          <a:prstGeom prst="rect">
            <a:avLst/>
          </a:prstGeom>
          <a:ln w="0">
            <a:noFill/>
          </a:ln>
        </p:spPr>
      </p:pic>
      <p:sp>
        <p:nvSpPr>
          <p:cNvPr id="312" name="Google Shape;147;p35"/>
          <p:cNvSpPr/>
          <p:nvPr/>
        </p:nvSpPr>
        <p:spPr>
          <a:xfrm>
            <a:off x="433080" y="1535040"/>
            <a:ext cx="7583400" cy="149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ru" sz="3200" spc="-1" strike="noStrike">
                <a:solidFill>
                  <a:schemeClr val="lt1"/>
                </a:solidFill>
                <a:latin typeface="Roboto"/>
                <a:ea typeface="Roboto"/>
              </a:rPr>
              <a:t>Развертывание отказоустойчивого кластера БД Postgres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3" name="Google Shape;148;p35" descr=""/>
          <p:cNvPicPr/>
          <p:nvPr/>
        </p:nvPicPr>
        <p:blipFill>
          <a:blip r:embed="rId2"/>
          <a:stretch/>
        </p:blipFill>
        <p:spPr>
          <a:xfrm>
            <a:off x="7913880" y="268920"/>
            <a:ext cx="821160" cy="283680"/>
          </a:xfrm>
          <a:prstGeom prst="rect">
            <a:avLst/>
          </a:prstGeom>
          <a:ln w="0">
            <a:noFill/>
          </a:ln>
        </p:spPr>
      </p:pic>
      <p:sp>
        <p:nvSpPr>
          <p:cNvPr id="314" name="Google Shape;149;p35"/>
          <p:cNvSpPr/>
          <p:nvPr/>
        </p:nvSpPr>
        <p:spPr>
          <a:xfrm>
            <a:off x="629640" y="4138200"/>
            <a:ext cx="3689640" cy="42552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5" name="Google Shape;150;p35"/>
          <p:cNvSpPr/>
          <p:nvPr/>
        </p:nvSpPr>
        <p:spPr>
          <a:xfrm>
            <a:off x="885960" y="4127400"/>
            <a:ext cx="325332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ru" sz="1900" spc="-1" strike="noStrike">
                <a:solidFill>
                  <a:srgbClr val="ffffff"/>
                </a:solidFill>
                <a:latin typeface="Roboto Medium"/>
                <a:ea typeface="Roboto Medium"/>
              </a:rPr>
              <a:t>Infrastructure as a code</a:t>
            </a:r>
            <a:endParaRPr b="0" lang="ru-RU" sz="1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6" name="Google Shape;151;p35" descr=""/>
          <p:cNvPicPr/>
          <p:nvPr/>
        </p:nvPicPr>
        <p:blipFill>
          <a:blip r:embed="rId3"/>
          <a:stretch/>
        </p:blipFill>
        <p:spPr>
          <a:xfrm>
            <a:off x="7409880" y="3083760"/>
            <a:ext cx="1547280" cy="1668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744120" y="1422720"/>
            <a:ext cx="7934400" cy="140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4000" spc="-1" strike="noStrike">
                <a:solidFill>
                  <a:schemeClr val="dk1"/>
                </a:solidFill>
                <a:latin typeface="Roboto"/>
                <a:ea typeface="Roboto"/>
              </a:rPr>
              <a:t>Меня хорошо видно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4000" spc="-1" strike="noStrike">
                <a:solidFill>
                  <a:schemeClr val="dk1"/>
                </a:solidFill>
                <a:latin typeface="Roboto"/>
                <a:ea typeface="Roboto"/>
              </a:rPr>
              <a:t>&amp; слышно?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8" name="Google Shape;157;p36" descr=""/>
          <p:cNvPicPr/>
          <p:nvPr/>
        </p:nvPicPr>
        <p:blipFill>
          <a:blip r:embed="rId1"/>
          <a:stretch/>
        </p:blipFill>
        <p:spPr>
          <a:xfrm>
            <a:off x="1544040" y="3841200"/>
            <a:ext cx="544680" cy="544680"/>
          </a:xfrm>
          <a:prstGeom prst="rect">
            <a:avLst/>
          </a:prstGeom>
          <a:ln w="0">
            <a:noFill/>
          </a:ln>
        </p:spPr>
      </p:pic>
      <p:pic>
        <p:nvPicPr>
          <p:cNvPr id="319" name="Google Shape;158;p36" descr=""/>
          <p:cNvPicPr/>
          <p:nvPr/>
        </p:nvPicPr>
        <p:blipFill>
          <a:blip r:embed="rId2"/>
          <a:stretch/>
        </p:blipFill>
        <p:spPr>
          <a:xfrm>
            <a:off x="825480" y="3890880"/>
            <a:ext cx="536040" cy="53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500400" y="313560"/>
            <a:ext cx="8519400" cy="1840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chemeClr val="dk1"/>
                </a:solidFill>
                <a:latin typeface="Roboto"/>
                <a:ea typeface="Roboto"/>
              </a:rPr>
              <a:t>Защита проекта</a:t>
            </a:r>
            <a:br>
              <a:rPr sz="3000"/>
            </a:br>
            <a:r>
              <a:rPr b="1" lang="ru" sz="2400" spc="-1" strike="noStrike">
                <a:solidFill>
                  <a:schemeClr val="dk1"/>
                </a:solidFill>
                <a:latin typeface="Roboto"/>
                <a:ea typeface="Roboto"/>
              </a:rPr>
              <a:t>Тема:</a:t>
            </a:r>
            <a:r>
              <a:rPr b="1" lang="ru" sz="3000" spc="-1" strike="noStrike">
                <a:solidFill>
                  <a:schemeClr val="dk1"/>
                </a:solidFill>
                <a:latin typeface="Roboto"/>
                <a:ea typeface="Roboto"/>
              </a:rPr>
              <a:t> </a:t>
            </a:r>
            <a:r>
              <a:rPr b="1" lang="ru" sz="2400" spc="-1" strike="noStrike">
                <a:solidFill>
                  <a:schemeClr val="dk1"/>
                </a:solidFill>
                <a:latin typeface="Roboto"/>
                <a:ea typeface="Roboto"/>
              </a:rPr>
              <a:t>Развертывание отказоустойчивого кластера БД Postgres</a:t>
            </a:r>
            <a:r>
              <a:rPr b="1" lang="ru" sz="3000" spc="-1" strike="noStrike">
                <a:solidFill>
                  <a:schemeClr val="dk1"/>
                </a:solidFill>
                <a:latin typeface="Roboto"/>
                <a:ea typeface="Roboto"/>
              </a:rPr>
              <a:t> </a:t>
            </a:r>
            <a:br>
              <a:rPr sz="3000"/>
            </a:br>
            <a:br>
              <a:rPr sz="3200"/>
            </a:br>
            <a:br>
              <a:rPr sz="3000"/>
            </a:b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Google Shape;165;p37"/>
          <p:cNvSpPr/>
          <p:nvPr/>
        </p:nvSpPr>
        <p:spPr>
          <a:xfrm>
            <a:off x="3899520" y="2336400"/>
            <a:ext cx="37008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b="1" lang="ru" sz="2300" spc="-1" strike="noStrike">
                <a:solidFill>
                  <a:srgbClr val="3f299a"/>
                </a:solidFill>
                <a:latin typeface="Roboto"/>
                <a:ea typeface="Roboto"/>
              </a:rPr>
              <a:t>Сергей Царьков</a:t>
            </a:r>
            <a:endParaRPr b="0" lang="ru-RU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Google Shape;166;p37"/>
          <p:cNvSpPr/>
          <p:nvPr/>
        </p:nvSpPr>
        <p:spPr>
          <a:xfrm>
            <a:off x="3899520" y="2893320"/>
            <a:ext cx="3192120" cy="61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</a:tabLst>
            </a:pP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3" name="" descr=""/>
          <p:cNvPicPr/>
          <p:nvPr/>
        </p:nvPicPr>
        <p:blipFill>
          <a:blip r:embed="rId1"/>
          <a:stretch/>
        </p:blipFill>
        <p:spPr>
          <a:xfrm>
            <a:off x="637560" y="1800000"/>
            <a:ext cx="2275920" cy="287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538560" y="348840"/>
            <a:ext cx="8519400" cy="1041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2400" spc="-1" strike="noStrike">
                <a:solidFill>
                  <a:schemeClr val="dk1"/>
                </a:solidFill>
                <a:latin typeface="Roboto"/>
                <a:ea typeface="Roboto"/>
              </a:rPr>
              <a:t>План защиты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Google Shape;172;p38"/>
          <p:cNvSpPr/>
          <p:nvPr/>
        </p:nvSpPr>
        <p:spPr>
          <a:xfrm>
            <a:off x="1137960" y="1491480"/>
            <a:ext cx="3384000" cy="3751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pc="-1" strike="noStrike">
                <a:solidFill>
                  <a:schemeClr val="dk1"/>
                </a:solidFill>
                <a:latin typeface="Roboto"/>
                <a:ea typeface="Roboto"/>
              </a:rPr>
              <a:t>Цель и задачи проекта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Google Shape;173;p38"/>
          <p:cNvSpPr/>
          <p:nvPr/>
        </p:nvSpPr>
        <p:spPr>
          <a:xfrm>
            <a:off x="1137960" y="2071440"/>
            <a:ext cx="3384000" cy="3751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pc="-1" strike="noStrike">
                <a:solidFill>
                  <a:schemeClr val="dk1"/>
                </a:solidFill>
                <a:latin typeface="Roboto"/>
                <a:ea typeface="Roboto"/>
              </a:rPr>
              <a:t>Какие технологии использовались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Google Shape;174;p38"/>
          <p:cNvSpPr/>
          <p:nvPr/>
        </p:nvSpPr>
        <p:spPr>
          <a:xfrm>
            <a:off x="1137960" y="2651760"/>
            <a:ext cx="3384000" cy="3751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pc="-1" strike="noStrike">
                <a:solidFill>
                  <a:schemeClr val="dk1"/>
                </a:solidFill>
                <a:latin typeface="Roboto"/>
                <a:ea typeface="Roboto"/>
              </a:rPr>
              <a:t>Что получилось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Google Shape;175;p38"/>
          <p:cNvSpPr/>
          <p:nvPr/>
        </p:nvSpPr>
        <p:spPr>
          <a:xfrm>
            <a:off x="1137960" y="3246120"/>
            <a:ext cx="3384000" cy="3751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pc="-1" strike="noStrike">
                <a:solidFill>
                  <a:schemeClr val="dk1"/>
                </a:solidFill>
                <a:latin typeface="Roboto"/>
                <a:ea typeface="Roboto"/>
              </a:rPr>
              <a:t>Выводы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29" name="Google Shape;176;p38"/>
          <p:cNvCxnSpPr>
            <a:stCxn id="325" idx="1"/>
            <a:endCxn id="326" idx="1"/>
          </p:cNvCxnSpPr>
          <p:nvPr/>
        </p:nvCxnSpPr>
        <p:spPr>
          <a:xfrm rot="10800000">
            <a:off x="1137960" y="1678680"/>
            <a:ext cx="360" cy="580320"/>
          </a:xfrm>
          <a:prstGeom prst="bentConnector3">
            <a:avLst>
              <a:gd name="adj1" fmla="val -16000000"/>
            </a:avLst>
          </a:prstGeom>
          <a:ln w="9525">
            <a:solidFill>
              <a:srgbClr val="3f299a"/>
            </a:solidFill>
            <a:prstDash val="dash"/>
            <a:round/>
          </a:ln>
        </p:spPr>
      </p:cxnSp>
      <p:cxnSp>
        <p:nvCxnSpPr>
          <p:cNvPr id="330" name="Google Shape;177;p38"/>
          <p:cNvCxnSpPr>
            <a:stCxn id="326" idx="1"/>
            <a:endCxn id="327" idx="1"/>
          </p:cNvCxnSpPr>
          <p:nvPr/>
        </p:nvCxnSpPr>
        <p:spPr>
          <a:xfrm rot="10800000">
            <a:off x="1137960" y="2259000"/>
            <a:ext cx="360" cy="580680"/>
          </a:xfrm>
          <a:prstGeom prst="bentConnector3">
            <a:avLst>
              <a:gd name="adj1" fmla="val -16000000"/>
            </a:avLst>
          </a:prstGeom>
          <a:ln w="9525">
            <a:solidFill>
              <a:srgbClr val="3f299a"/>
            </a:solidFill>
            <a:prstDash val="dash"/>
            <a:round/>
          </a:ln>
        </p:spPr>
      </p:cxnSp>
      <p:cxnSp>
        <p:nvCxnSpPr>
          <p:cNvPr id="331" name="Google Shape;178;p38"/>
          <p:cNvCxnSpPr>
            <a:stCxn id="327" idx="1"/>
            <a:endCxn id="328" idx="1"/>
          </p:cNvCxnSpPr>
          <p:nvPr/>
        </p:nvCxnSpPr>
        <p:spPr>
          <a:xfrm rot="10800000">
            <a:off x="1137960" y="2838960"/>
            <a:ext cx="360" cy="594720"/>
          </a:xfrm>
          <a:prstGeom prst="bentConnector3">
            <a:avLst>
              <a:gd name="adj1" fmla="val -16000000"/>
            </a:avLst>
          </a:prstGeom>
          <a:ln w="9525">
            <a:solidFill>
              <a:srgbClr val="3f299a"/>
            </a:solidFill>
            <a:prstDash val="dash"/>
            <a:round/>
          </a:ln>
        </p:spPr>
      </p:cxnSp>
      <p:cxnSp>
        <p:nvCxnSpPr>
          <p:cNvPr id="332" name="Google Shape;179;p38"/>
          <p:cNvCxnSpPr>
            <a:stCxn id="328" idx="1"/>
            <a:endCxn id="333" idx="1"/>
          </p:cNvCxnSpPr>
          <p:nvPr/>
        </p:nvCxnSpPr>
        <p:spPr>
          <a:xfrm rot="10800000">
            <a:off x="1137960" y="3433320"/>
            <a:ext cx="360" cy="527040"/>
          </a:xfrm>
          <a:prstGeom prst="bentConnector3">
            <a:avLst>
              <a:gd name="adj1" fmla="val -16000000"/>
            </a:avLst>
          </a:prstGeom>
          <a:ln w="9525">
            <a:solidFill>
              <a:srgbClr val="3f299a"/>
            </a:solidFill>
            <a:prstDash val="dash"/>
            <a:round/>
          </a:ln>
        </p:spPr>
      </p:cxnSp>
      <p:sp>
        <p:nvSpPr>
          <p:cNvPr id="333" name="Google Shape;180;p38"/>
          <p:cNvSpPr/>
          <p:nvPr/>
        </p:nvSpPr>
        <p:spPr>
          <a:xfrm>
            <a:off x="1137960" y="3772800"/>
            <a:ext cx="3384000" cy="3751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pc="-1" strike="noStrike">
                <a:solidFill>
                  <a:schemeClr val="dk1"/>
                </a:solidFill>
                <a:latin typeface="Roboto"/>
                <a:ea typeface="Roboto"/>
              </a:rPr>
              <a:t>Вопросы и рекомендации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185;p39"/>
          <p:cNvSpPr/>
          <p:nvPr/>
        </p:nvSpPr>
        <p:spPr>
          <a:xfrm>
            <a:off x="560520" y="324720"/>
            <a:ext cx="8519400" cy="130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2400" spc="-1" strike="noStrike">
                <a:solidFill>
                  <a:srgbClr val="000000"/>
                </a:solidFill>
                <a:latin typeface="Roboto"/>
                <a:ea typeface="Roboto"/>
              </a:rPr>
              <a:t>Цель и задачи проекта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35" name="Google Shape;186;p39"/>
          <p:cNvGraphicFramePr/>
          <p:nvPr/>
        </p:nvGraphicFramePr>
        <p:xfrm>
          <a:off x="897480" y="2013120"/>
          <a:ext cx="7238160" cy="2288160"/>
        </p:xfrm>
        <a:graphic>
          <a:graphicData uri="http://schemas.openxmlformats.org/drawingml/2006/table">
            <a:tbl>
              <a:tblPr/>
              <a:tblGrid>
                <a:gridCol w="601200"/>
                <a:gridCol w="6637320"/>
              </a:tblGrid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1.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Развернуть в облаке инфраструктуру из 5 хостов с помощью terraform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bfc1f0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</a:tr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2.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С помощью ansible доустановить необходимое ПО и сконфигурировать его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bfc1f0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</a:tr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3.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Поочередно выключить сервера входящие в кластер (иммитация сбоя), убедиться что БД при этом, нормально функционирует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bfc1f0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</a:tr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4.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Посмотреть, как менялись роли серверов БД во время отключения серверов, входящих в кластер.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bfc1f0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36" name="Google Shape;187;p39"/>
          <p:cNvSpPr/>
          <p:nvPr/>
        </p:nvSpPr>
        <p:spPr>
          <a:xfrm>
            <a:off x="1492920" y="1080000"/>
            <a:ext cx="5886360" cy="66096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500" spc="-1" strike="noStrike">
                <a:solidFill>
                  <a:schemeClr val="dk1"/>
                </a:solidFill>
                <a:latin typeface="Roboto Medium"/>
                <a:ea typeface="Roboto Medium"/>
              </a:rPr>
              <a:t>Цель проекта: развернуть отказоустойчивый кластер PostgreSQL с помощью ansible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500400" y="180000"/>
            <a:ext cx="8519400" cy="56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2400" spc="-1" strike="noStrike">
                <a:solidFill>
                  <a:schemeClr val="dk1"/>
                </a:solidFill>
                <a:latin typeface="Roboto"/>
                <a:ea typeface="Roboto"/>
              </a:rPr>
              <a:t>Какие технологии использовались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38" name="Google Shape;199;p40"/>
          <p:cNvGraphicFramePr/>
          <p:nvPr/>
        </p:nvGraphicFramePr>
        <p:xfrm>
          <a:off x="630720" y="747000"/>
          <a:ext cx="7470360" cy="3618720"/>
        </p:xfrm>
        <a:graphic>
          <a:graphicData uri="http://schemas.openxmlformats.org/drawingml/2006/table">
            <a:tbl>
              <a:tblPr/>
              <a:tblGrid>
                <a:gridCol w="583560"/>
                <a:gridCol w="6887160"/>
              </a:tblGrid>
              <a:tr h="73116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1.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Инфраструктура была развернута в ЯндексОблаке при помощи terraform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bfc1f0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</a:tr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2.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На хостах развернута ОС Debian 11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bfc1f0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</a:tr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3.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Для организации кластера, на хостах srv-db2[1-3] установлены etcd 3.3.25, patroni 2.0.2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bfc1f0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</a:tr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4.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В качестве БД на хостах srv-db2[1-3] установлена СУБД Postgresql 13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bfc1f0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5.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В качестве балансировщика HAProxy 2.2.9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bfc1f0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6.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Также был установлен на хостах srv-db2[1-3] Keepalived 2.1.5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bfc1f0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7.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На хосте администратора, установлен psql, в качестве клиента БД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bfc1f0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360000" y="150840"/>
            <a:ext cx="8519400" cy="7484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2400" spc="-1" strike="noStrike">
                <a:solidFill>
                  <a:schemeClr val="dk1"/>
                </a:solidFill>
                <a:latin typeface="Roboto"/>
                <a:ea typeface="Roboto"/>
              </a:rPr>
              <a:t>Развернутая в ЯндексОблаке инфраструктура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0" name="" descr=""/>
          <p:cNvPicPr/>
          <p:nvPr/>
        </p:nvPicPr>
        <p:blipFill>
          <a:blip r:embed="rId1"/>
          <a:stretch/>
        </p:blipFill>
        <p:spPr>
          <a:xfrm>
            <a:off x="180000" y="1080000"/>
            <a:ext cx="8639280" cy="233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479880" y="180000"/>
            <a:ext cx="851940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400" spc="-1" strike="noStrike">
                <a:solidFill>
                  <a:schemeClr val="dk1"/>
                </a:solidFill>
                <a:latin typeface="Roboto"/>
                <a:ea typeface="Roboto"/>
              </a:rPr>
              <a:t>Здесь мы видим, что в качестве мастера, сейчас хост srv-db21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2" name="" descr=""/>
          <p:cNvPicPr/>
          <p:nvPr/>
        </p:nvPicPr>
        <p:blipFill>
          <a:blip r:embed="rId1"/>
          <a:stretch/>
        </p:blipFill>
        <p:spPr>
          <a:xfrm>
            <a:off x="353160" y="1080000"/>
            <a:ext cx="8286120" cy="3731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479880" y="180000"/>
            <a:ext cx="8519400" cy="11084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600" spc="-1" strike="noStrike">
                <a:solidFill>
                  <a:schemeClr val="dk1"/>
                </a:solidFill>
                <a:latin typeface="Roboto"/>
                <a:ea typeface="Roboto"/>
              </a:rPr>
              <a:t>То же самое, но информация получена, с помощью patroni. В качестве мастера, сейчас хост srv-db21</a:t>
            </a:r>
            <a:br>
              <a:rPr sz="1600"/>
            </a:br>
            <a:r>
              <a:rPr b="0" lang="ru" sz="1600" spc="-1" strike="noStrike">
                <a:solidFill>
                  <a:srgbClr val="000000"/>
                </a:solidFill>
                <a:latin typeface="Roboto"/>
                <a:ea typeface="Roboto"/>
              </a:rPr>
              <a:t>Далее, </a:t>
            </a:r>
            <a:r>
              <a:rPr b="0" lang="ru" sz="1600" spc="-1" strike="noStrike">
                <a:solidFill>
                  <a:schemeClr val="dk1"/>
                </a:solidFill>
                <a:latin typeface="Roboto"/>
                <a:ea typeface="Roboto"/>
              </a:rPr>
              <a:t>имитируем сбой в работе БД на мастере и видим, как мастер переезжает на другой хост, vip 10.3.0.25 переезжает также на него.</a:t>
            </a:r>
            <a:br>
              <a:rPr sz="1600"/>
            </a:b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4" name="" descr=""/>
          <p:cNvPicPr/>
          <p:nvPr/>
        </p:nvPicPr>
        <p:blipFill>
          <a:blip r:embed="rId1"/>
          <a:stretch/>
        </p:blipFill>
        <p:spPr>
          <a:xfrm>
            <a:off x="540000" y="1440000"/>
            <a:ext cx="4610160" cy="3059280"/>
          </a:xfrm>
          <a:prstGeom prst="rect">
            <a:avLst/>
          </a:prstGeom>
          <a:ln w="0">
            <a:noFill/>
          </a:ln>
        </p:spPr>
      </p:pic>
      <p:pic>
        <p:nvPicPr>
          <p:cNvPr id="345" name="" descr=""/>
          <p:cNvPicPr/>
          <p:nvPr/>
        </p:nvPicPr>
        <p:blipFill>
          <a:blip r:embed="rId2"/>
          <a:stretch/>
        </p:blipFill>
        <p:spPr>
          <a:xfrm>
            <a:off x="4140000" y="1620000"/>
            <a:ext cx="4696920" cy="269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479880" y="180000"/>
            <a:ext cx="8519400" cy="8784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400" spc="-1" strike="noStrike">
                <a:solidFill>
                  <a:schemeClr val="dk1"/>
                </a:solidFill>
                <a:latin typeface="Roboto"/>
                <a:ea typeface="Roboto"/>
              </a:rPr>
              <a:t>Здесь мы видим, что в качестве мастера, сейчас хост srv-db22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7" name="" descr=""/>
          <p:cNvPicPr/>
          <p:nvPr/>
        </p:nvPicPr>
        <p:blipFill>
          <a:blip r:embed="rId1"/>
          <a:stretch/>
        </p:blipFill>
        <p:spPr>
          <a:xfrm>
            <a:off x="180000" y="1058760"/>
            <a:ext cx="8459280" cy="4088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479880" y="180000"/>
            <a:ext cx="8519400" cy="876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600" spc="-1" strike="noStrike">
                <a:solidFill>
                  <a:schemeClr val="dk1"/>
                </a:solidFill>
                <a:latin typeface="Roboto"/>
                <a:ea typeface="Roboto"/>
              </a:rPr>
              <a:t>Postgresql, подключение, создание БД, список пользователей. Обратите внимание, подключение идет на адрес балансировщика 10.3.0.35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9" name="" descr=""/>
          <p:cNvPicPr/>
          <p:nvPr/>
        </p:nvPicPr>
        <p:blipFill>
          <a:blip r:embed="rId1"/>
          <a:stretch/>
        </p:blipFill>
        <p:spPr>
          <a:xfrm>
            <a:off x="1980000" y="1056960"/>
            <a:ext cx="5408640" cy="401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521;p68" descr=""/>
          <p:cNvPicPr/>
          <p:nvPr/>
        </p:nvPicPr>
        <p:blipFill>
          <a:blip r:embed="rId1"/>
          <a:stretch/>
        </p:blipFill>
        <p:spPr>
          <a:xfrm>
            <a:off x="365400" y="1080000"/>
            <a:ext cx="1641960" cy="754200"/>
          </a:xfrm>
          <a:prstGeom prst="rect">
            <a:avLst/>
          </a:prstGeom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pic>
        <p:nvPicPr>
          <p:cNvPr id="351" name="Google Shape;522;p68" descr=""/>
          <p:cNvPicPr/>
          <p:nvPr/>
        </p:nvPicPr>
        <p:blipFill>
          <a:blip r:embed="rId2"/>
          <a:stretch/>
        </p:blipFill>
        <p:spPr>
          <a:xfrm>
            <a:off x="2014560" y="1080000"/>
            <a:ext cx="1641960" cy="754200"/>
          </a:xfrm>
          <a:prstGeom prst="rect">
            <a:avLst/>
          </a:prstGeom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pic>
        <p:nvPicPr>
          <p:cNvPr id="352" name="Google Shape;523;p68" descr=""/>
          <p:cNvPicPr/>
          <p:nvPr/>
        </p:nvPicPr>
        <p:blipFill>
          <a:blip r:embed="rId3"/>
          <a:stretch/>
        </p:blipFill>
        <p:spPr>
          <a:xfrm>
            <a:off x="3635640" y="1080000"/>
            <a:ext cx="1641960" cy="754200"/>
          </a:xfrm>
          <a:prstGeom prst="rect">
            <a:avLst/>
          </a:prstGeom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pic>
        <p:nvPicPr>
          <p:cNvPr id="353" name="Google Shape;524;p68" descr=""/>
          <p:cNvPicPr/>
          <p:nvPr/>
        </p:nvPicPr>
        <p:blipFill>
          <a:blip r:embed="rId4"/>
          <a:stretch/>
        </p:blipFill>
        <p:spPr>
          <a:xfrm>
            <a:off x="5316480" y="1080000"/>
            <a:ext cx="1641960" cy="754200"/>
          </a:xfrm>
          <a:prstGeom prst="rect">
            <a:avLst/>
          </a:prstGeom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pic>
        <p:nvPicPr>
          <p:cNvPr id="354" name="Google Shape;525;p68" descr=""/>
          <p:cNvPicPr/>
          <p:nvPr/>
        </p:nvPicPr>
        <p:blipFill>
          <a:blip r:embed="rId5"/>
          <a:stretch/>
        </p:blipFill>
        <p:spPr>
          <a:xfrm>
            <a:off x="6997320" y="1080000"/>
            <a:ext cx="1641960" cy="754200"/>
          </a:xfrm>
          <a:prstGeom prst="rect">
            <a:avLst/>
          </a:prstGeom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540000" y="344520"/>
            <a:ext cx="7491960" cy="109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pc="-1" strike="noStrike">
                <a:solidFill>
                  <a:schemeClr val="dk1"/>
                </a:solidFill>
                <a:latin typeface="Roboto"/>
                <a:ea typeface="Roboto"/>
              </a:rPr>
              <a:t>Процесс через этапы</a:t>
            </a:r>
            <a:r>
              <a:rPr b="1" lang="ru" sz="3100" spc="-1" strike="noStrike">
                <a:solidFill>
                  <a:schemeClr val="dk1"/>
                </a:solidFill>
                <a:latin typeface="Roboto"/>
                <a:ea typeface="Roboto"/>
              </a:rPr>
              <a:t> </a:t>
            </a:r>
            <a:endParaRPr b="0" lang="ru-RU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Google Shape;527;p68"/>
          <p:cNvSpPr/>
          <p:nvPr/>
        </p:nvSpPr>
        <p:spPr>
          <a:xfrm>
            <a:off x="655560" y="1203480"/>
            <a:ext cx="10620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500" spc="-1" strike="noStrike">
                <a:solidFill>
                  <a:schemeClr val="lt2"/>
                </a:solidFill>
                <a:latin typeface="Roboto"/>
                <a:ea typeface="Roboto"/>
              </a:rPr>
              <a:t>Этап 1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Google Shape;528;p68"/>
          <p:cNvSpPr/>
          <p:nvPr/>
        </p:nvSpPr>
        <p:spPr>
          <a:xfrm>
            <a:off x="2304720" y="1203480"/>
            <a:ext cx="10620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500" spc="-1" strike="noStrike">
                <a:solidFill>
                  <a:schemeClr val="lt2"/>
                </a:solidFill>
                <a:latin typeface="Roboto"/>
                <a:ea typeface="Roboto"/>
              </a:rPr>
              <a:t>Этап 2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Google Shape;529;p68"/>
          <p:cNvSpPr/>
          <p:nvPr/>
        </p:nvSpPr>
        <p:spPr>
          <a:xfrm>
            <a:off x="3925800" y="1203480"/>
            <a:ext cx="10620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500" spc="-1" strike="noStrike">
                <a:solidFill>
                  <a:schemeClr val="lt2"/>
                </a:solidFill>
                <a:latin typeface="Roboto"/>
                <a:ea typeface="Roboto"/>
              </a:rPr>
              <a:t>Этап 3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Google Shape;530;p68"/>
          <p:cNvSpPr/>
          <p:nvPr/>
        </p:nvSpPr>
        <p:spPr>
          <a:xfrm>
            <a:off x="5606640" y="1203480"/>
            <a:ext cx="10620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500" spc="-1" strike="noStrike">
                <a:solidFill>
                  <a:schemeClr val="lt2"/>
                </a:solidFill>
                <a:latin typeface="Roboto"/>
                <a:ea typeface="Roboto"/>
              </a:rPr>
              <a:t>Этап 4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Google Shape;531;p68"/>
          <p:cNvSpPr/>
          <p:nvPr/>
        </p:nvSpPr>
        <p:spPr>
          <a:xfrm>
            <a:off x="7287480" y="1203480"/>
            <a:ext cx="10620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500" spc="-1" strike="noStrike">
                <a:solidFill>
                  <a:schemeClr val="lt2"/>
                </a:solidFill>
                <a:latin typeface="Roboto"/>
                <a:ea typeface="Roboto"/>
              </a:rPr>
              <a:t>Этап 5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61" name="Google Shape;532;p68"/>
          <p:cNvGraphicFramePr/>
          <p:nvPr/>
        </p:nvGraphicFramePr>
        <p:xfrm>
          <a:off x="365040" y="2375280"/>
          <a:ext cx="8274240" cy="2457000"/>
        </p:xfrm>
        <a:graphic>
          <a:graphicData uri="http://schemas.openxmlformats.org/drawingml/2006/table">
            <a:tbl>
              <a:tblPr/>
              <a:tblGrid>
                <a:gridCol w="1654920"/>
                <a:gridCol w="1654920"/>
                <a:gridCol w="1654920"/>
                <a:gridCol w="1654920"/>
                <a:gridCol w="1654920"/>
              </a:tblGrid>
              <a:tr h="160128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" sz="9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Была развернута инфраструктура в ЯндексОблаке с помощью terraform.</a:t>
                      </a:r>
                      <a:br>
                        <a:rPr sz="900"/>
                      </a:br>
                      <a:r>
                        <a:rPr b="0" lang="ru" sz="9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Внутренние ip адреса и имена хостов сразу прописывались при создании. </a:t>
                      </a:r>
                      <a:br>
                        <a:rPr sz="900"/>
                      </a:br>
                      <a:r>
                        <a:rPr b="0" lang="ru" sz="9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На данном этапе было развернуто 5 хостов, с установкой на них, небходимых пакетов.</a:t>
                      </a:r>
                      <a:br>
                        <a:rPr sz="900"/>
                      </a:br>
                      <a:r>
                        <a:rPr b="0" lang="ru" sz="9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На данном эатпе были созданы необходимые пользователи в ОС.</a:t>
                      </a:r>
                      <a:endParaRPr b="0" lang="ru-RU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" sz="9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С помощью ansible, на данном и последующем этапах проводилась конфигурация ПО. Автоматически были сгенерированы ключи и сертификаты для хостов кластера и скопированы на указанные хосты.</a:t>
                      </a:r>
                      <a:br>
                        <a:rPr sz="900"/>
                      </a:br>
                      <a:endParaRPr b="0" lang="ru-RU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" sz="9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Был сконфигурирован etcd для координации хостов patroni. </a:t>
                      </a:r>
                      <a:endParaRPr b="0" lang="ru-RU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" sz="9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На этих же хостах был сконфигурирован сам patroni, postgresql и  keepalived.</a:t>
                      </a:r>
                      <a:br>
                        <a:rPr sz="900"/>
                      </a:br>
                      <a:r>
                        <a:rPr b="0" lang="ru" sz="9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В postgres б</a:t>
                      </a:r>
                      <a:r>
                        <a:rPr b="0" lang="ru" sz="9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ыли добавлены пользователи, создана тестовая БД.</a:t>
                      </a:r>
                      <a:endParaRPr b="0" lang="ru-RU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" sz="9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Все пароли, к техническим и пользовательским учетным записям, были вынесены в отдельный файл с переменными, который был зашифрован с помощью ansible-vault.</a:t>
                      </a:r>
                      <a:endParaRPr b="0" lang="ru-RU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" sz="9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На хосте srv-haproxy был настроен haproxy, для балансировки и перенаправления на мастер-сервер.</a:t>
                      </a:r>
                      <a:br>
                        <a:rPr sz="900"/>
                      </a:br>
                      <a:r>
                        <a:rPr b="0" lang="ru" sz="900" spc="-1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На хосте srv-caadmn была развернут клиент БД, с данного хоста проводились тесовые работы с БД.</a:t>
                      </a:r>
                      <a:endParaRPr b="0" lang="ru-RU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56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2400" spc="-1" strike="noStrike">
                <a:solidFill>
                  <a:schemeClr val="dk1"/>
                </a:solidFill>
                <a:latin typeface="Roboto"/>
                <a:ea typeface="Roboto"/>
              </a:rPr>
              <a:t>Выводы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63" name="Google Shape;213;p42"/>
          <p:cNvGraphicFramePr/>
          <p:nvPr/>
        </p:nvGraphicFramePr>
        <p:xfrm>
          <a:off x="653040" y="1119600"/>
          <a:ext cx="7238160" cy="3891960"/>
        </p:xfrm>
        <a:graphic>
          <a:graphicData uri="http://schemas.openxmlformats.org/drawingml/2006/table">
            <a:tbl>
              <a:tblPr/>
              <a:tblGrid>
                <a:gridCol w="558360"/>
                <a:gridCol w="6680160"/>
              </a:tblGrid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1.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Развернута работающая инфраструктура в облаке.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bfc1f0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</a:tr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2.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Изначально планировалось обойтись без haproxy и с клиентов подключаться на виртуальный ip адрес. Но когда все было сделано и настроено, выяснилось, что на VIP подключиться в ЯндексОблаке не получиться. Яндекс Облако не поддерживает протокол VRRP на уровне своей сетевой инфраструктуры. VRRP-пакеты (мультикаст на 224.0.0.18) не передаются между виртуальными машинами.</a:t>
                      </a:r>
                      <a:br>
                        <a:rPr sz="1800"/>
                      </a:b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Было принято решение поднять haproxy и подключение настроить через него.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bfc1f0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56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2400" spc="-1" strike="noStrike">
                <a:solidFill>
                  <a:schemeClr val="dk1"/>
                </a:solidFill>
                <a:latin typeface="Roboto"/>
                <a:ea typeface="Roboto"/>
              </a:rPr>
              <a:t>Выводы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65" name="Google Shape;213;p 1"/>
          <p:cNvGraphicFramePr/>
          <p:nvPr/>
        </p:nvGraphicFramePr>
        <p:xfrm>
          <a:off x="703080" y="1241640"/>
          <a:ext cx="7238160" cy="3891960"/>
        </p:xfrm>
        <a:graphic>
          <a:graphicData uri="http://schemas.openxmlformats.org/drawingml/2006/table">
            <a:tbl>
              <a:tblPr/>
              <a:tblGrid>
                <a:gridCol w="558360"/>
                <a:gridCol w="6680160"/>
              </a:tblGrid>
              <a:tr h="34776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3.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Настройку keepalived в конфигурации оставил, так как она пригодится при настройке серверов в виртуальной среде организации.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bfc1f0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</a:tr>
              <a:tr h="8596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pc="-1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4.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Манифесты terraform и playbook ansible находятся на  github, по адресу</a:t>
                      </a:r>
                      <a:br>
                        <a:rPr sz="1800"/>
                      </a:b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https://github.com/liptserg/IaC_public/tree/main/Diplom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bfc1f0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</a:tr>
              <a:tr h="380880">
                <a:tc>
                  <a:txBody>
                    <a:bodyPr lIns="198000" rIns="91080" anchor="t">
                      <a:noAutofit/>
                    </a:bodyPr>
                    <a:p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bfc1f0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221;p43" descr=""/>
          <p:cNvPicPr/>
          <p:nvPr/>
        </p:nvPicPr>
        <p:blipFill>
          <a:blip r:embed="rId1"/>
          <a:stretch/>
        </p:blipFill>
        <p:spPr>
          <a:xfrm>
            <a:off x="0" y="0"/>
            <a:ext cx="9214920" cy="5142600"/>
          </a:xfrm>
          <a:prstGeom prst="rect">
            <a:avLst/>
          </a:prstGeom>
          <a:ln w="0">
            <a:noFill/>
          </a:ln>
        </p:spPr>
      </p:pic>
      <p:sp>
        <p:nvSpPr>
          <p:cNvPr id="367" name="Google Shape;222;p43"/>
          <p:cNvSpPr/>
          <p:nvPr/>
        </p:nvSpPr>
        <p:spPr>
          <a:xfrm>
            <a:off x="387000" y="1844640"/>
            <a:ext cx="758340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ru" sz="4000" spc="-1" strike="noStrike">
                <a:solidFill>
                  <a:schemeClr val="lt1"/>
                </a:solidFill>
                <a:latin typeface="Roboto"/>
                <a:ea typeface="Roboto"/>
              </a:rPr>
              <a:t>Вопросы и рекомендации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Google Shape;223;p43"/>
          <p:cNvSpPr/>
          <p:nvPr/>
        </p:nvSpPr>
        <p:spPr>
          <a:xfrm>
            <a:off x="1214640" y="3061800"/>
            <a:ext cx="19263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500" spc="-1" strike="noStrike">
                <a:solidFill>
                  <a:srgbClr val="ffffff"/>
                </a:solidFill>
                <a:latin typeface="Roboto"/>
                <a:ea typeface="Roboto"/>
              </a:rPr>
              <a:t>если есть вопросы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Google Shape;224;p43"/>
          <p:cNvSpPr/>
          <p:nvPr/>
        </p:nvSpPr>
        <p:spPr>
          <a:xfrm>
            <a:off x="4934880" y="3061800"/>
            <a:ext cx="2144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500" spc="-1" strike="noStrike">
                <a:solidFill>
                  <a:srgbClr val="ffffff"/>
                </a:solidFill>
                <a:latin typeface="Roboto"/>
                <a:ea typeface="Roboto"/>
              </a:rPr>
              <a:t>если вопросов нет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Google Shape;225;p43"/>
          <p:cNvSpPr/>
          <p:nvPr/>
        </p:nvSpPr>
        <p:spPr>
          <a:xfrm>
            <a:off x="722880" y="2846520"/>
            <a:ext cx="49068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4300" spc="-1" strike="noStrike">
                <a:solidFill>
                  <a:schemeClr val="lt1"/>
                </a:solidFill>
                <a:latin typeface="Roboto"/>
                <a:ea typeface="Roboto"/>
              </a:rPr>
              <a:t>+</a:t>
            </a:r>
            <a:endParaRPr b="0" lang="ru-RU" sz="4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Google Shape;226;p43"/>
          <p:cNvSpPr/>
          <p:nvPr/>
        </p:nvSpPr>
        <p:spPr>
          <a:xfrm>
            <a:off x="4443480" y="2846520"/>
            <a:ext cx="49068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4300" spc="-1" strike="noStrike">
                <a:solidFill>
                  <a:schemeClr val="lt1"/>
                </a:solidFill>
                <a:latin typeface="Roboto"/>
                <a:ea typeface="Roboto"/>
              </a:rPr>
              <a:t>– </a:t>
            </a:r>
            <a:endParaRPr b="0" lang="ru-RU" sz="43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72" name="Google Shape;227;p43"/>
          <p:cNvGrpSpPr/>
          <p:nvPr/>
        </p:nvGrpSpPr>
        <p:grpSpPr>
          <a:xfrm>
            <a:off x="5573520" y="528480"/>
            <a:ext cx="3355200" cy="1251720"/>
            <a:chOff x="5573520" y="528480"/>
            <a:chExt cx="3355200" cy="1251720"/>
          </a:xfrm>
        </p:grpSpPr>
        <p:pic>
          <p:nvPicPr>
            <p:cNvPr id="373" name="Google Shape;228;p43" descr=""/>
            <p:cNvPicPr/>
            <p:nvPr/>
          </p:nvPicPr>
          <p:blipFill>
            <a:blip r:embed="rId2"/>
            <a:stretch/>
          </p:blipFill>
          <p:spPr>
            <a:xfrm>
              <a:off x="5573520" y="528480"/>
              <a:ext cx="3355200" cy="1235520"/>
            </a:xfrm>
            <a:prstGeom prst="rect">
              <a:avLst/>
            </a:prstGeom>
            <a:ln w="0">
              <a:noFill/>
            </a:ln>
            <a:effectLst>
              <a:outerShdw algn="bl" blurRad="200160" dir="4197285" dist="28357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374" name="Google Shape;229;p43"/>
            <p:cNvSpPr/>
            <p:nvPr/>
          </p:nvSpPr>
          <p:spPr>
            <a:xfrm>
              <a:off x="6077880" y="685080"/>
              <a:ext cx="2678400" cy="109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t">
              <a:spAutoFit/>
            </a:bodyPr>
            <a:p>
              <a:pPr>
                <a:lnSpc>
                  <a:spcPct val="100000"/>
                </a:lnSpc>
                <a:spcBef>
                  <a:spcPts val="601"/>
                </a:spcBef>
                <a:tabLst>
                  <a:tab algn="l" pos="0"/>
                </a:tabLst>
              </a:pPr>
              <a:r>
                <a:rPr b="0" lang="ru" sz="1200" spc="-1" strike="noStrike">
                  <a:solidFill>
                    <a:schemeClr val="dk1"/>
                  </a:solidFill>
                  <a:latin typeface="Roboto"/>
                  <a:ea typeface="Roboto"/>
                </a:rPr>
                <a:t>Ответьте на вопросы одногруппников и преподавателей и получите обратную связь на свою работу</a:t>
              </a:r>
              <a:endParaRPr b="0" lang="ru-RU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234;p44" descr=""/>
          <p:cNvPicPr/>
          <p:nvPr/>
        </p:nvPicPr>
        <p:blipFill>
          <a:blip r:embed="rId1"/>
          <a:stretch/>
        </p:blipFill>
        <p:spPr>
          <a:xfrm>
            <a:off x="0" y="0"/>
            <a:ext cx="9214920" cy="5142600"/>
          </a:xfrm>
          <a:prstGeom prst="rect">
            <a:avLst/>
          </a:prstGeom>
          <a:ln w="0">
            <a:noFill/>
          </a:ln>
        </p:spPr>
      </p:pic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628920" y="1932480"/>
            <a:ext cx="7293960" cy="1955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5000" spc="-1" strike="noStrike">
                <a:solidFill>
                  <a:schemeClr val="lt1"/>
                </a:solidFill>
                <a:latin typeface="Roboto"/>
                <a:ea typeface="Roboto"/>
              </a:rPr>
              <a:t>Спасибо за внимание!</a:t>
            </a:r>
            <a:endParaRPr b="0" lang="ru-RU" sz="5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7" name="Google Shape;236;p44" descr=""/>
          <p:cNvPicPr/>
          <p:nvPr/>
        </p:nvPicPr>
        <p:blipFill>
          <a:blip r:embed="rId2"/>
          <a:stretch/>
        </p:blipFill>
        <p:spPr>
          <a:xfrm>
            <a:off x="6727320" y="231840"/>
            <a:ext cx="2269800" cy="3041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241;p45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2026-03-27T13:25:07Z</dcterms:modified>
  <cp:revision>21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